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elvetica World" charset="1" panose="020B0500040000020004"/>
      <p:regular r:id="rId12"/>
    </p:embeddedFont>
    <p:embeddedFont>
      <p:font typeface="Helvetica World Bold" charset="1" panose="020B0800040000020004"/>
      <p:regular r:id="rId13"/>
    </p:embeddedFont>
    <p:embeddedFont>
      <p:font typeface="Anton" charset="1" panose="00000500000000000000"/>
      <p:regular r:id="rId14"/>
    </p:embeddedFont>
    <p:embeddedFont>
      <p:font typeface="Canva Sans" charset="1" panose="020B0503030501040103"/>
      <p:regular r:id="rId15"/>
    </p:embeddedFont>
    <p:embeddedFont>
      <p:font typeface="Poppins Bold" charset="1" panose="00000800000000000000"/>
      <p:regular r:id="rId16"/>
    </p:embeddedFont>
    <p:embeddedFont>
      <p:font typeface="Proxima Nova Bold" charset="1" panose="02000506030000020004"/>
      <p:regular r:id="rId17"/>
    </p:embeddedFont>
    <p:embeddedFont>
      <p:font typeface="Proxima Nova" charset="1" panose="02000506030000020004"/>
      <p:regular r:id="rId18"/>
    </p:embeddedFont>
    <p:embeddedFont>
      <p:font typeface="Canva Sans Bold" charset="1" panose="020B0803030501040103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jpeg" Type="http://schemas.openxmlformats.org/officeDocument/2006/relationships/image"/><Relationship Id="rId5" Target="../media/image15.png" Type="http://schemas.openxmlformats.org/officeDocument/2006/relationships/image"/><Relationship Id="rId6" Target="../media/image2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15.png" Type="http://schemas.openxmlformats.org/officeDocument/2006/relationships/image"/><Relationship Id="rId6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D8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347490">
            <a:off x="9723833" y="-2988672"/>
            <a:ext cx="10546692" cy="14575782"/>
            <a:chOff x="0" y="0"/>
            <a:chExt cx="1633959" cy="2258170"/>
          </a:xfrm>
        </p:grpSpPr>
        <p:sp>
          <p:nvSpPr>
            <p:cNvPr name="Freeform 3" id="3"/>
            <p:cNvSpPr/>
            <p:nvPr/>
          </p:nvSpPr>
          <p:spPr>
            <a:xfrm flipH="false" flipV="false" rot="1383433">
              <a:off x="-376941" y="-229772"/>
              <a:ext cx="2387841" cy="2717715"/>
            </a:xfrm>
            <a:custGeom>
              <a:avLst/>
              <a:gdLst/>
              <a:ahLst/>
              <a:cxnLst/>
              <a:rect r="r" b="b" t="t" l="l"/>
              <a:pathLst>
                <a:path h="2717715" w="2387841">
                  <a:moveTo>
                    <a:pt x="0" y="639940"/>
                  </a:moveTo>
                  <a:lnTo>
                    <a:pt x="1503428" y="0"/>
                  </a:lnTo>
                  <a:lnTo>
                    <a:pt x="2387841" y="2077774"/>
                  </a:lnTo>
                  <a:lnTo>
                    <a:pt x="884412" y="2717714"/>
                  </a:lnTo>
                  <a:close/>
                </a:path>
              </a:pathLst>
            </a:custGeom>
            <a:blipFill>
              <a:blip r:embed="rId2"/>
              <a:stretch>
                <a:fillRect l="-40689" t="0" r="-4068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4084124">
            <a:off x="4793166" y="3180495"/>
            <a:ext cx="12866871" cy="3634891"/>
          </a:xfrm>
          <a:custGeom>
            <a:avLst/>
            <a:gdLst/>
            <a:ahLst/>
            <a:cxnLst/>
            <a:rect r="r" b="b" t="t" l="l"/>
            <a:pathLst>
              <a:path h="3634891" w="12866871">
                <a:moveTo>
                  <a:pt x="0" y="0"/>
                </a:moveTo>
                <a:lnTo>
                  <a:pt x="12866872" y="0"/>
                </a:lnTo>
                <a:lnTo>
                  <a:pt x="12866872" y="3634891"/>
                </a:lnTo>
                <a:lnTo>
                  <a:pt x="0" y="3634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473757" y="4979461"/>
            <a:ext cx="6768125" cy="6455099"/>
          </a:xfrm>
          <a:custGeom>
            <a:avLst/>
            <a:gdLst/>
            <a:ahLst/>
            <a:cxnLst/>
            <a:rect r="r" b="b" t="t" l="l"/>
            <a:pathLst>
              <a:path h="6455099" w="6768125">
                <a:moveTo>
                  <a:pt x="6768125" y="0"/>
                </a:moveTo>
                <a:lnTo>
                  <a:pt x="0" y="0"/>
                </a:lnTo>
                <a:lnTo>
                  <a:pt x="0" y="6455099"/>
                </a:lnTo>
                <a:lnTo>
                  <a:pt x="6768125" y="6455099"/>
                </a:lnTo>
                <a:lnTo>
                  <a:pt x="6768125" y="0"/>
                </a:lnTo>
                <a:close/>
              </a:path>
            </a:pathLst>
          </a:custGeom>
          <a:blipFill>
            <a:blip r:embed="rId5"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37830" y="480717"/>
            <a:ext cx="5378506" cy="4780147"/>
          </a:xfrm>
          <a:custGeom>
            <a:avLst/>
            <a:gdLst/>
            <a:ahLst/>
            <a:cxnLst/>
            <a:rect r="r" b="b" t="t" l="l"/>
            <a:pathLst>
              <a:path h="4780147" w="5378506">
                <a:moveTo>
                  <a:pt x="0" y="0"/>
                </a:moveTo>
                <a:lnTo>
                  <a:pt x="5378506" y="0"/>
                </a:lnTo>
                <a:lnTo>
                  <a:pt x="5378506" y="4780147"/>
                </a:lnTo>
                <a:lnTo>
                  <a:pt x="0" y="4780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18531" y="972816"/>
            <a:ext cx="4417105" cy="3795949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9"/>
              <a:stretch>
                <a:fillRect l="-17534" t="0" r="-17534" b="0"/>
              </a:stretch>
            </a:blipFill>
            <a:ln w="2857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434055" y="3473989"/>
            <a:ext cx="7236243" cy="6431211"/>
          </a:xfrm>
          <a:custGeom>
            <a:avLst/>
            <a:gdLst/>
            <a:ahLst/>
            <a:cxnLst/>
            <a:rect r="r" b="b" t="t" l="l"/>
            <a:pathLst>
              <a:path h="6431211" w="7236243">
                <a:moveTo>
                  <a:pt x="0" y="0"/>
                </a:moveTo>
                <a:lnTo>
                  <a:pt x="7236243" y="0"/>
                </a:lnTo>
                <a:lnTo>
                  <a:pt x="7236243" y="6431210"/>
                </a:lnTo>
                <a:lnTo>
                  <a:pt x="0" y="64312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080790" y="4136059"/>
            <a:ext cx="5942773" cy="5107071"/>
            <a:chOff x="0" y="0"/>
            <a:chExt cx="8128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10"/>
              <a:stretch>
                <a:fillRect l="-14453" t="0" r="-14453" b="0"/>
              </a:stretch>
            </a:blipFill>
            <a:ln w="2857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true" rot="0">
            <a:off x="-852646" y="-780838"/>
            <a:ext cx="5326403" cy="5080057"/>
          </a:xfrm>
          <a:custGeom>
            <a:avLst/>
            <a:gdLst/>
            <a:ahLst/>
            <a:cxnLst/>
            <a:rect r="r" b="b" t="t" l="l"/>
            <a:pathLst>
              <a:path h="5080057" w="5326403">
                <a:moveTo>
                  <a:pt x="0" y="5080057"/>
                </a:moveTo>
                <a:lnTo>
                  <a:pt x="5326403" y="5080057"/>
                </a:lnTo>
                <a:lnTo>
                  <a:pt x="5326403" y="0"/>
                </a:lnTo>
                <a:lnTo>
                  <a:pt x="0" y="0"/>
                </a:lnTo>
                <a:lnTo>
                  <a:pt x="0" y="5080057"/>
                </a:lnTo>
                <a:close/>
              </a:path>
            </a:pathLst>
          </a:custGeom>
          <a:blipFill>
            <a:blip r:embed="rId5"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1175773"/>
            <a:ext cx="1076577" cy="1054477"/>
          </a:xfrm>
          <a:custGeom>
            <a:avLst/>
            <a:gdLst/>
            <a:ahLst/>
            <a:cxnLst/>
            <a:rect r="r" b="b" t="t" l="l"/>
            <a:pathLst>
              <a:path h="1054477" w="1076577">
                <a:moveTo>
                  <a:pt x="0" y="0"/>
                </a:moveTo>
                <a:lnTo>
                  <a:pt x="1076577" y="0"/>
                </a:lnTo>
                <a:lnTo>
                  <a:pt x="1076577" y="1054476"/>
                </a:lnTo>
                <a:lnTo>
                  <a:pt x="0" y="1054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932849" y="-5289059"/>
            <a:ext cx="11220561" cy="10287000"/>
            <a:chOff x="0" y="0"/>
            <a:chExt cx="945177" cy="8665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5177" cy="866537"/>
            </a:xfrm>
            <a:custGeom>
              <a:avLst/>
              <a:gdLst/>
              <a:ahLst/>
              <a:cxnLst/>
              <a:rect r="r" b="b" t="t" l="l"/>
              <a:pathLst>
                <a:path h="866537" w="945177">
                  <a:moveTo>
                    <a:pt x="472588" y="0"/>
                  </a:moveTo>
                  <a:lnTo>
                    <a:pt x="945177" y="433269"/>
                  </a:lnTo>
                  <a:lnTo>
                    <a:pt x="472588" y="866537"/>
                  </a:lnTo>
                  <a:lnTo>
                    <a:pt x="0" y="433269"/>
                  </a:lnTo>
                  <a:lnTo>
                    <a:pt x="472588" y="0"/>
                  </a:lnTo>
                  <a:close/>
                </a:path>
              </a:pathLst>
            </a:custGeom>
            <a:solidFill>
              <a:srgbClr val="FFFFFF">
                <a:alpha val="3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62452" y="110836"/>
              <a:ext cx="620272" cy="606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8869" y="2851053"/>
            <a:ext cx="11977935" cy="743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sz="43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437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ID </a:t>
            </a:r>
            <a:r>
              <a:rPr lang="en-US" sz="43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– 01</a:t>
            </a:r>
          </a:p>
          <a:p>
            <a:pPr algn="l">
              <a:lnSpc>
                <a:spcPts val="6119"/>
              </a:lnSpc>
            </a:pPr>
            <a:r>
              <a:rPr lang="en-US" sz="437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437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Title</a:t>
            </a:r>
            <a:r>
              <a:rPr lang="en-US" sz="43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-Gamified Environmental Education Platform for Schools and Colleges</a:t>
            </a:r>
          </a:p>
          <a:p>
            <a:pPr algn="l">
              <a:lnSpc>
                <a:spcPts val="6119"/>
              </a:lnSpc>
            </a:pPr>
            <a:r>
              <a:rPr lang="en-US" sz="43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437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Theme</a:t>
            </a:r>
            <a:r>
              <a:rPr lang="en-US" sz="43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Smart Education &amp; E-learning</a:t>
            </a:r>
          </a:p>
          <a:p>
            <a:pPr algn="l">
              <a:lnSpc>
                <a:spcPts val="6119"/>
              </a:lnSpc>
            </a:pPr>
            <a:r>
              <a:rPr lang="en-US" sz="43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437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PS Category</a:t>
            </a:r>
            <a:r>
              <a:rPr lang="en-US" sz="43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Software/Hardware</a:t>
            </a:r>
          </a:p>
          <a:p>
            <a:pPr algn="l">
              <a:lnSpc>
                <a:spcPts val="6119"/>
              </a:lnSpc>
            </a:pPr>
            <a:r>
              <a:rPr lang="en-US" sz="43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437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ID</a:t>
            </a:r>
            <a:r>
              <a:rPr lang="en-US" sz="43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T-011</a:t>
            </a:r>
          </a:p>
          <a:p>
            <a:pPr algn="l">
              <a:lnSpc>
                <a:spcPts val="6119"/>
              </a:lnSpc>
            </a:pPr>
            <a:r>
              <a:rPr lang="en-US" sz="43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437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Name</a:t>
            </a:r>
            <a:r>
              <a:rPr lang="en-US" sz="437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DATA DIVERS</a:t>
            </a:r>
          </a:p>
          <a:p>
            <a:pPr algn="l">
              <a:lnSpc>
                <a:spcPts val="611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932849" y="7468542"/>
            <a:ext cx="3040853" cy="2436657"/>
          </a:xfrm>
          <a:custGeom>
            <a:avLst/>
            <a:gdLst/>
            <a:ahLst/>
            <a:cxnLst/>
            <a:rect r="r" b="b" t="t" l="l"/>
            <a:pathLst>
              <a:path h="2436657" w="3040853">
                <a:moveTo>
                  <a:pt x="0" y="0"/>
                </a:moveTo>
                <a:lnTo>
                  <a:pt x="3040853" y="0"/>
                </a:lnTo>
                <a:lnTo>
                  <a:pt x="3040853" y="2436657"/>
                </a:lnTo>
                <a:lnTo>
                  <a:pt x="0" y="243665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23553" y="233986"/>
            <a:ext cx="9068429" cy="133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4"/>
              </a:lnSpc>
            </a:pPr>
            <a:r>
              <a:rPr lang="en-US" sz="782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ARVORA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1653" y="1389620"/>
            <a:ext cx="14652229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“A world where live, learning and green habits grow  together”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D8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6185" y="6246175"/>
            <a:ext cx="4673169" cy="2697706"/>
            <a:chOff x="0" y="0"/>
            <a:chExt cx="828231" cy="4781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8231" cy="478118"/>
            </a:xfrm>
            <a:custGeom>
              <a:avLst/>
              <a:gdLst/>
              <a:ahLst/>
              <a:cxnLst/>
              <a:rect r="r" b="b" t="t" l="l"/>
              <a:pathLst>
                <a:path h="478118" w="828231">
                  <a:moveTo>
                    <a:pt x="625031" y="0"/>
                  </a:moveTo>
                  <a:lnTo>
                    <a:pt x="0" y="0"/>
                  </a:lnTo>
                  <a:lnTo>
                    <a:pt x="203200" y="478118"/>
                  </a:lnTo>
                  <a:lnTo>
                    <a:pt x="828231" y="478118"/>
                  </a:lnTo>
                  <a:lnTo>
                    <a:pt x="625031" y="0"/>
                  </a:lnTo>
                  <a:close/>
                </a:path>
              </a:pathLst>
            </a:custGeom>
            <a:blipFill>
              <a:blip r:embed="rId2"/>
              <a:stretch>
                <a:fillRect l="0" t="-5108" r="0" b="-5107"/>
              </a:stretch>
            </a:blipFill>
            <a:ln w="3333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-6781190">
            <a:off x="6412639" y="2834831"/>
            <a:ext cx="3799932" cy="398993"/>
          </a:xfrm>
          <a:custGeom>
            <a:avLst/>
            <a:gdLst/>
            <a:ahLst/>
            <a:cxnLst/>
            <a:rect r="r" b="b" t="t" l="l"/>
            <a:pathLst>
              <a:path h="398993" w="3799932">
                <a:moveTo>
                  <a:pt x="0" y="0"/>
                </a:moveTo>
                <a:lnTo>
                  <a:pt x="3799932" y="0"/>
                </a:lnTo>
                <a:lnTo>
                  <a:pt x="3799932" y="398993"/>
                </a:lnTo>
                <a:lnTo>
                  <a:pt x="0" y="39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639033" y="-825967"/>
            <a:ext cx="5356960" cy="5109200"/>
          </a:xfrm>
          <a:custGeom>
            <a:avLst/>
            <a:gdLst/>
            <a:ahLst/>
            <a:cxnLst/>
            <a:rect r="r" b="b" t="t" l="l"/>
            <a:pathLst>
              <a:path h="5109200" w="5356960">
                <a:moveTo>
                  <a:pt x="5356960" y="0"/>
                </a:moveTo>
                <a:lnTo>
                  <a:pt x="0" y="0"/>
                </a:lnTo>
                <a:lnTo>
                  <a:pt x="0" y="5109200"/>
                </a:lnTo>
                <a:lnTo>
                  <a:pt x="5356960" y="5109200"/>
                </a:lnTo>
                <a:lnTo>
                  <a:pt x="535696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582418" y="5374579"/>
            <a:ext cx="19452835" cy="5847501"/>
            <a:chOff x="0" y="0"/>
            <a:chExt cx="5123381" cy="15400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3381" cy="1540083"/>
            </a:xfrm>
            <a:custGeom>
              <a:avLst/>
              <a:gdLst/>
              <a:ahLst/>
              <a:cxnLst/>
              <a:rect r="r" b="b" t="t" l="l"/>
              <a:pathLst>
                <a:path h="1540083" w="5123381">
                  <a:moveTo>
                    <a:pt x="0" y="0"/>
                  </a:moveTo>
                  <a:lnTo>
                    <a:pt x="5123381" y="0"/>
                  </a:lnTo>
                  <a:lnTo>
                    <a:pt x="5123381" y="1540083"/>
                  </a:lnTo>
                  <a:lnTo>
                    <a:pt x="0" y="15400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23381" cy="157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-708419" y="6785557"/>
            <a:ext cx="4117948" cy="3927493"/>
          </a:xfrm>
          <a:custGeom>
            <a:avLst/>
            <a:gdLst/>
            <a:ahLst/>
            <a:cxnLst/>
            <a:rect r="r" b="b" t="t" l="l"/>
            <a:pathLst>
              <a:path h="3927493" w="4117948">
                <a:moveTo>
                  <a:pt x="0" y="3927493"/>
                </a:moveTo>
                <a:lnTo>
                  <a:pt x="4117947" y="3927493"/>
                </a:lnTo>
                <a:lnTo>
                  <a:pt x="4117947" y="0"/>
                </a:lnTo>
                <a:lnTo>
                  <a:pt x="0" y="0"/>
                </a:lnTo>
                <a:lnTo>
                  <a:pt x="0" y="3927493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878045" y="6801885"/>
            <a:ext cx="4117948" cy="3927493"/>
          </a:xfrm>
          <a:custGeom>
            <a:avLst/>
            <a:gdLst/>
            <a:ahLst/>
            <a:cxnLst/>
            <a:rect r="r" b="b" t="t" l="l"/>
            <a:pathLst>
              <a:path h="3927493" w="4117948">
                <a:moveTo>
                  <a:pt x="4117948" y="3927493"/>
                </a:moveTo>
                <a:lnTo>
                  <a:pt x="0" y="3927493"/>
                </a:lnTo>
                <a:lnTo>
                  <a:pt x="0" y="0"/>
                </a:lnTo>
                <a:lnTo>
                  <a:pt x="4117948" y="0"/>
                </a:lnTo>
                <a:lnTo>
                  <a:pt x="4117948" y="3927493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46793" y="5797076"/>
            <a:ext cx="8265794" cy="4077449"/>
            <a:chOff x="0" y="0"/>
            <a:chExt cx="2316697" cy="1142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697" cy="1142808"/>
            </a:xfrm>
            <a:custGeom>
              <a:avLst/>
              <a:gdLst/>
              <a:ahLst/>
              <a:cxnLst/>
              <a:rect r="r" b="b" t="t" l="l"/>
              <a:pathLst>
                <a:path h="1142808" w="2316697">
                  <a:moveTo>
                    <a:pt x="0" y="0"/>
                  </a:moveTo>
                  <a:lnTo>
                    <a:pt x="2316697" y="0"/>
                  </a:lnTo>
                  <a:lnTo>
                    <a:pt x="2316697" y="1142808"/>
                  </a:lnTo>
                  <a:lnTo>
                    <a:pt x="0" y="1142808"/>
                  </a:lnTo>
                  <a:close/>
                </a:path>
              </a:pathLst>
            </a:custGeom>
            <a:solidFill>
              <a:srgbClr val="5D8A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6697" cy="1180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108152" y="9310110"/>
            <a:ext cx="3060787" cy="321383"/>
          </a:xfrm>
          <a:custGeom>
            <a:avLst/>
            <a:gdLst/>
            <a:ahLst/>
            <a:cxnLst/>
            <a:rect r="r" b="b" t="t" l="l"/>
            <a:pathLst>
              <a:path h="321383" w="3060787">
                <a:moveTo>
                  <a:pt x="0" y="0"/>
                </a:moveTo>
                <a:lnTo>
                  <a:pt x="3060787" y="0"/>
                </a:lnTo>
                <a:lnTo>
                  <a:pt x="3060787" y="321383"/>
                </a:lnTo>
                <a:lnTo>
                  <a:pt x="0" y="321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13607" y="9333879"/>
            <a:ext cx="3060787" cy="321383"/>
          </a:xfrm>
          <a:custGeom>
            <a:avLst/>
            <a:gdLst/>
            <a:ahLst/>
            <a:cxnLst/>
            <a:rect r="r" b="b" t="t" l="l"/>
            <a:pathLst>
              <a:path h="321383" w="3060787">
                <a:moveTo>
                  <a:pt x="0" y="0"/>
                </a:moveTo>
                <a:lnTo>
                  <a:pt x="3060786" y="0"/>
                </a:lnTo>
                <a:lnTo>
                  <a:pt x="3060786" y="321383"/>
                </a:lnTo>
                <a:lnTo>
                  <a:pt x="0" y="321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524644" y="5732033"/>
            <a:ext cx="8712204" cy="4105035"/>
            <a:chOff x="0" y="0"/>
            <a:chExt cx="2441814" cy="11505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1814" cy="1150539"/>
            </a:xfrm>
            <a:custGeom>
              <a:avLst/>
              <a:gdLst/>
              <a:ahLst/>
              <a:cxnLst/>
              <a:rect r="r" b="b" t="t" l="l"/>
              <a:pathLst>
                <a:path h="1150539" w="2441814">
                  <a:moveTo>
                    <a:pt x="0" y="0"/>
                  </a:moveTo>
                  <a:lnTo>
                    <a:pt x="2441814" y="0"/>
                  </a:lnTo>
                  <a:lnTo>
                    <a:pt x="2441814" y="1150539"/>
                  </a:lnTo>
                  <a:lnTo>
                    <a:pt x="0" y="1150539"/>
                  </a:lnTo>
                  <a:close/>
                </a:path>
              </a:pathLst>
            </a:custGeom>
            <a:solidFill>
              <a:srgbClr val="5D8A2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41814" cy="1188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119061" y="9357648"/>
            <a:ext cx="3060787" cy="321383"/>
          </a:xfrm>
          <a:custGeom>
            <a:avLst/>
            <a:gdLst/>
            <a:ahLst/>
            <a:cxnLst/>
            <a:rect r="r" b="b" t="t" l="l"/>
            <a:pathLst>
              <a:path h="321383" w="3060787">
                <a:moveTo>
                  <a:pt x="0" y="0"/>
                </a:moveTo>
                <a:lnTo>
                  <a:pt x="3060787" y="0"/>
                </a:lnTo>
                <a:lnTo>
                  <a:pt x="3060787" y="321382"/>
                </a:lnTo>
                <a:lnTo>
                  <a:pt x="0" y="321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5553" y="431679"/>
            <a:ext cx="6768053" cy="4676200"/>
          </a:xfrm>
          <a:custGeom>
            <a:avLst/>
            <a:gdLst/>
            <a:ahLst/>
            <a:cxnLst/>
            <a:rect r="r" b="b" t="t" l="l"/>
            <a:pathLst>
              <a:path h="4676200" w="6768053">
                <a:moveTo>
                  <a:pt x="0" y="0"/>
                </a:moveTo>
                <a:lnTo>
                  <a:pt x="6768054" y="0"/>
                </a:lnTo>
                <a:lnTo>
                  <a:pt x="6768054" y="4676200"/>
                </a:lnTo>
                <a:lnTo>
                  <a:pt x="0" y="4676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2367" r="0" b="-22367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16185" y="297818"/>
            <a:ext cx="9858320" cy="37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91"/>
              </a:lnSpc>
            </a:pPr>
            <a:r>
              <a:rPr lang="en-US" b="true" sz="2581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ARVORA</a:t>
            </a:r>
            <a:r>
              <a:rPr lang="en-US" b="true" sz="2581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: GAMIFIED ENVIRONMENTAL EDUCATION PLATFORM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60443" y="914601"/>
            <a:ext cx="9828691" cy="422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3796" indent="-256898" lvl="1">
              <a:lnSpc>
                <a:spcPts val="2879"/>
              </a:lnSpc>
              <a:buFont typeface="Arial"/>
              <a:buChar char="•"/>
            </a:pPr>
            <a:r>
              <a:rPr lang="en-US" b="true" sz="237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web/mobile platform where students learn environmental issues via-interactive lessons, quizzes, and mini-games. </a:t>
            </a:r>
          </a:p>
          <a:p>
            <a:pPr algn="just">
              <a:lnSpc>
                <a:spcPts val="2879"/>
              </a:lnSpc>
            </a:pPr>
          </a:p>
          <a:p>
            <a:pPr algn="just" marL="513796" indent="-256898" lvl="1">
              <a:lnSpc>
                <a:spcPts val="2879"/>
              </a:lnSpc>
              <a:buFont typeface="Arial"/>
              <a:buChar char="•"/>
            </a:pPr>
            <a:r>
              <a:rPr lang="en-US" b="true" sz="237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Students take real-world eco-challenges (tree planting, waste segregation, saving electricity) and upload proof.</a:t>
            </a:r>
          </a:p>
          <a:p>
            <a:pPr algn="just">
              <a:lnSpc>
                <a:spcPts val="2879"/>
              </a:lnSpc>
            </a:pPr>
          </a:p>
          <a:p>
            <a:pPr algn="just" marL="513796" indent="-256898" lvl="1">
              <a:lnSpc>
                <a:spcPts val="2879"/>
              </a:lnSpc>
              <a:buFont typeface="Arial"/>
              <a:buChar char="•"/>
            </a:pPr>
            <a:r>
              <a:rPr lang="en-US" b="true" sz="237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Eco-points, streaks, and badges track progress and motivate consistency.</a:t>
            </a:r>
          </a:p>
          <a:p>
            <a:pPr algn="just">
              <a:lnSpc>
                <a:spcPts val="2879"/>
              </a:lnSpc>
            </a:pPr>
          </a:p>
          <a:p>
            <a:pPr algn="just" marL="513796" indent="-256898" lvl="1">
              <a:lnSpc>
                <a:spcPts val="2879"/>
              </a:lnSpc>
              <a:buFont typeface="Arial"/>
              <a:buChar char="•"/>
            </a:pPr>
            <a:r>
              <a:rPr lang="en-US" b="true" sz="237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teacher/school portal verifies participation and enables class-level competitions.</a:t>
            </a:r>
          </a:p>
          <a:p>
            <a:pPr algn="r">
              <a:lnSpc>
                <a:spcPts val="2023"/>
              </a:lnSpc>
            </a:pPr>
            <a:r>
              <a:rPr lang="en-US" sz="167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63195" y="5749451"/>
            <a:ext cx="3830614" cy="90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777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Addresses the Problem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95350" y="5870850"/>
            <a:ext cx="4065496" cy="90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777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Premium Analytics &amp; Data Licensing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4644" y="6307941"/>
            <a:ext cx="8712204" cy="340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9783" indent="-219892" lvl="1">
              <a:lnSpc>
                <a:spcPts val="2851"/>
              </a:lnSpc>
              <a:buFont typeface="Arial"/>
              <a:buChar char="•"/>
            </a:pPr>
            <a:r>
              <a:rPr lang="en-US" b="true" sz="20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Combines Gamification + Real-world Action + Atomic Habits principles (tiny habits, streaks, rewards).</a:t>
            </a:r>
          </a:p>
          <a:p>
            <a:pPr algn="ctr">
              <a:lnSpc>
                <a:spcPts val="2851"/>
              </a:lnSpc>
            </a:pPr>
          </a:p>
          <a:p>
            <a:pPr algn="ctr" marL="439783" indent="-219892" lvl="1">
              <a:lnSpc>
                <a:spcPts val="2851"/>
              </a:lnSpc>
              <a:buFont typeface="Arial"/>
              <a:buChar char="•"/>
            </a:pPr>
            <a:r>
              <a:rPr lang="en-US" b="true" sz="20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Not just an e-learning tool → a habit-building platform.</a:t>
            </a:r>
          </a:p>
          <a:p>
            <a:pPr algn="ctr">
              <a:lnSpc>
                <a:spcPts val="2851"/>
              </a:lnSpc>
            </a:pPr>
          </a:p>
          <a:p>
            <a:pPr algn="ctr" marL="439783" indent="-219892" lvl="1">
              <a:lnSpc>
                <a:spcPts val="2851"/>
              </a:lnSpc>
              <a:buFont typeface="Arial"/>
              <a:buChar char="•"/>
            </a:pPr>
            <a:r>
              <a:rPr lang="en-US" b="true" sz="20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Companion : personalized nudges &amp; eco-habit suggestions.</a:t>
            </a:r>
          </a:p>
          <a:p>
            <a:pPr algn="ctr">
              <a:lnSpc>
                <a:spcPts val="2851"/>
              </a:lnSpc>
            </a:pPr>
          </a:p>
          <a:p>
            <a:pPr algn="ctr" marL="439783" indent="-219892" lvl="1">
              <a:lnSpc>
                <a:spcPts val="2851"/>
              </a:lnSpc>
              <a:buFont typeface="Arial"/>
              <a:buChar char="•"/>
            </a:pPr>
            <a:r>
              <a:rPr lang="en-US" b="true" sz="20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Scalable at individual, class, and school levels.</a:t>
            </a:r>
          </a:p>
          <a:p>
            <a:pPr algn="ctr">
              <a:lnSpc>
                <a:spcPts val="28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6793" y="6652208"/>
            <a:ext cx="7914961" cy="353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93778" indent="-196889" lvl="1">
              <a:lnSpc>
                <a:spcPts val="2553"/>
              </a:lnSpc>
              <a:buFont typeface="Arial"/>
              <a:buChar char="•"/>
            </a:pPr>
            <a:r>
              <a:rPr lang="en-US" b="true" sz="18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Turns boring textbook theory into fun, gamified learning</a:t>
            </a:r>
          </a:p>
          <a:p>
            <a:pPr algn="ctr">
              <a:lnSpc>
                <a:spcPts val="2553"/>
              </a:lnSpc>
            </a:pPr>
          </a:p>
          <a:p>
            <a:pPr algn="ctr" marL="393778" indent="-196889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Direct link between knowledge → real action → habit formation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 marL="393778" indent="-196889" lvl="1">
              <a:lnSpc>
                <a:spcPts val="2553"/>
              </a:lnSpc>
              <a:buFont typeface="Arial"/>
              <a:buChar char="•"/>
            </a:pPr>
            <a:r>
              <a:rPr lang="en-US" b="true" sz="18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Creates healthy competition (leaderboards, badges) to motivate participation.</a:t>
            </a:r>
          </a:p>
          <a:p>
            <a:pPr algn="ctr" marL="393778" indent="-196889" lvl="1">
              <a:lnSpc>
                <a:spcPts val="2553"/>
              </a:lnSpc>
              <a:buFont typeface="Arial"/>
              <a:buChar char="•"/>
            </a:pPr>
            <a:r>
              <a:rPr lang="en-US" b="true" sz="18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Encourages school-wide eco-initiatives and community impact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>
              <a:lnSpc>
                <a:spcPts val="2553"/>
              </a:lnSpc>
            </a:pP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661960" y="5927120"/>
            <a:ext cx="6035459" cy="50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2"/>
              </a:lnSpc>
              <a:spcBef>
                <a:spcPct val="0"/>
              </a:spcBef>
            </a:pPr>
            <a:r>
              <a:rPr lang="en-US" b="true" sz="2823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 ADDRESSES THE PROBLEM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34627" y="5667036"/>
            <a:ext cx="11061366" cy="44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b="true" sz="2589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Innovation &amp; Uniqueness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D8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822666" y="-642168"/>
            <a:ext cx="6326125" cy="6033542"/>
          </a:xfrm>
          <a:custGeom>
            <a:avLst/>
            <a:gdLst/>
            <a:ahLst/>
            <a:cxnLst/>
            <a:rect r="r" b="b" t="t" l="l"/>
            <a:pathLst>
              <a:path h="6033542" w="6326125">
                <a:moveTo>
                  <a:pt x="6326125" y="0"/>
                </a:moveTo>
                <a:lnTo>
                  <a:pt x="0" y="0"/>
                </a:lnTo>
                <a:lnTo>
                  <a:pt x="0" y="6033542"/>
                </a:lnTo>
                <a:lnTo>
                  <a:pt x="6326125" y="6033542"/>
                </a:lnTo>
                <a:lnTo>
                  <a:pt x="6326125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35186" y="-91564"/>
            <a:ext cx="1311734" cy="863089"/>
            <a:chOff x="0" y="0"/>
            <a:chExt cx="1080891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0891" cy="711200"/>
            </a:xfrm>
            <a:custGeom>
              <a:avLst/>
              <a:gdLst/>
              <a:ahLst/>
              <a:cxnLst/>
              <a:rect r="r" b="b" t="t" l="l"/>
              <a:pathLst>
                <a:path h="711200" w="1080891">
                  <a:moveTo>
                    <a:pt x="540445" y="0"/>
                  </a:moveTo>
                  <a:lnTo>
                    <a:pt x="1080891" y="711200"/>
                  </a:lnTo>
                  <a:lnTo>
                    <a:pt x="0" y="711200"/>
                  </a:lnTo>
                  <a:lnTo>
                    <a:pt x="540445" y="0"/>
                  </a:lnTo>
                  <a:close/>
                </a:path>
              </a:pathLst>
            </a:custGeom>
            <a:solidFill>
              <a:srgbClr val="38502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68889" y="292100"/>
              <a:ext cx="74311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7468996" y="4921345"/>
            <a:ext cx="5383918" cy="5134912"/>
          </a:xfrm>
          <a:custGeom>
            <a:avLst/>
            <a:gdLst/>
            <a:ahLst/>
            <a:cxnLst/>
            <a:rect r="r" b="b" t="t" l="l"/>
            <a:pathLst>
              <a:path h="5134912" w="5383918">
                <a:moveTo>
                  <a:pt x="0" y="5134911"/>
                </a:moveTo>
                <a:lnTo>
                  <a:pt x="5383918" y="5134911"/>
                </a:lnTo>
                <a:lnTo>
                  <a:pt x="5383918" y="0"/>
                </a:lnTo>
                <a:lnTo>
                  <a:pt x="0" y="0"/>
                </a:lnTo>
                <a:lnTo>
                  <a:pt x="0" y="513491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299180" y="-301574"/>
            <a:ext cx="13432970" cy="11385897"/>
            <a:chOff x="0" y="0"/>
            <a:chExt cx="479467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9467" cy="406400"/>
            </a:xfrm>
            <a:custGeom>
              <a:avLst/>
              <a:gdLst/>
              <a:ahLst/>
              <a:cxnLst/>
              <a:rect r="r" b="b" t="t" l="l"/>
              <a:pathLst>
                <a:path h="406400" w="479467">
                  <a:moveTo>
                    <a:pt x="479467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479467" y="406400"/>
                  </a:lnTo>
                  <a:lnTo>
                    <a:pt x="377867" y="203200"/>
                  </a:lnTo>
                  <a:lnTo>
                    <a:pt x="479467" y="0"/>
                  </a:lnTo>
                  <a:close/>
                </a:path>
              </a:pathLst>
            </a:custGeom>
            <a:blipFill>
              <a:blip r:embed="rId4"/>
              <a:stretch>
                <a:fillRect l="-13491" t="0" r="-13491" b="0"/>
              </a:stretch>
            </a:blipFill>
            <a:ln w="409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2940435" y="0"/>
            <a:ext cx="12907811" cy="5991596"/>
            <a:chOff x="0" y="0"/>
            <a:chExt cx="1121153" cy="520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153" cy="520421"/>
            </a:xfrm>
            <a:custGeom>
              <a:avLst/>
              <a:gdLst/>
              <a:ahLst/>
              <a:cxnLst/>
              <a:rect r="r" b="b" t="t" l="l"/>
              <a:pathLst>
                <a:path h="520421" w="1121153">
                  <a:moveTo>
                    <a:pt x="203200" y="0"/>
                  </a:moveTo>
                  <a:lnTo>
                    <a:pt x="1121153" y="0"/>
                  </a:lnTo>
                  <a:lnTo>
                    <a:pt x="917953" y="520421"/>
                  </a:lnTo>
                  <a:lnTo>
                    <a:pt x="0" y="5204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AB06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917953" cy="558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86333" y="7020296"/>
            <a:ext cx="4461945" cy="468504"/>
          </a:xfrm>
          <a:custGeom>
            <a:avLst/>
            <a:gdLst/>
            <a:ahLst/>
            <a:cxnLst/>
            <a:rect r="r" b="b" t="t" l="l"/>
            <a:pathLst>
              <a:path h="468504" w="4461945">
                <a:moveTo>
                  <a:pt x="0" y="0"/>
                </a:moveTo>
                <a:lnTo>
                  <a:pt x="4461945" y="0"/>
                </a:lnTo>
                <a:lnTo>
                  <a:pt x="4461945" y="468505"/>
                </a:lnTo>
                <a:lnTo>
                  <a:pt x="0" y="468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60955" y="1455458"/>
            <a:ext cx="7336578" cy="7376084"/>
          </a:xfrm>
          <a:custGeom>
            <a:avLst/>
            <a:gdLst/>
            <a:ahLst/>
            <a:cxnLst/>
            <a:rect r="r" b="b" t="t" l="l"/>
            <a:pathLst>
              <a:path h="7376084" w="7336578">
                <a:moveTo>
                  <a:pt x="0" y="0"/>
                </a:moveTo>
                <a:lnTo>
                  <a:pt x="7336579" y="0"/>
                </a:lnTo>
                <a:lnTo>
                  <a:pt x="7336579" y="7376084"/>
                </a:lnTo>
                <a:lnTo>
                  <a:pt x="0" y="7376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3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2921" y="267301"/>
            <a:ext cx="8941079" cy="99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4"/>
              </a:lnSpc>
            </a:pPr>
            <a:r>
              <a:rPr lang="en-US" b="true" sz="66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&amp; BENEFITS</a:t>
            </a:r>
          </a:p>
          <a:p>
            <a:pPr algn="ctr">
              <a:lnSpc>
                <a:spcPts val="9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80925" y="1331628"/>
            <a:ext cx="7098345" cy="434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093" indent="-285547" lvl="1">
              <a:lnSpc>
                <a:spcPts val="3200"/>
              </a:lnSpc>
              <a:buFont typeface="Arial"/>
              <a:buChar char="•"/>
            </a:pPr>
            <a:r>
              <a:rPr lang="en-US" sz="26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Potential Impact on Target Audience</a:t>
            </a:r>
          </a:p>
          <a:p>
            <a:pPr algn="l">
              <a:lnSpc>
                <a:spcPts val="3200"/>
              </a:lnSpc>
            </a:pPr>
          </a:p>
          <a:p>
            <a:pPr algn="l" marL="571093" indent="-285547" lvl="1">
              <a:lnSpc>
                <a:spcPts val="3200"/>
              </a:lnSpc>
              <a:buFont typeface="Arial"/>
              <a:buChar char="•"/>
            </a:pPr>
            <a:r>
              <a:rPr lang="en-US" sz="26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Engages students in fun, interactive learning</a:t>
            </a:r>
          </a:p>
          <a:p>
            <a:pPr algn="l">
              <a:lnSpc>
                <a:spcPts val="3200"/>
              </a:lnSpc>
            </a:pPr>
          </a:p>
          <a:p>
            <a:pPr algn="l" marL="571093" indent="-285547" lvl="1">
              <a:lnSpc>
                <a:spcPts val="3200"/>
              </a:lnSpc>
              <a:buFont typeface="Arial"/>
              <a:buChar char="•"/>
            </a:pPr>
            <a:r>
              <a:rPr lang="en-US" sz="26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long-term eco-friendly habits</a:t>
            </a:r>
          </a:p>
          <a:p>
            <a:pPr algn="l">
              <a:lnSpc>
                <a:spcPts val="3200"/>
              </a:lnSpc>
            </a:pPr>
          </a:p>
          <a:p>
            <a:pPr algn="l" marL="571093" indent="-285547" lvl="1">
              <a:lnSpc>
                <a:spcPts val="3200"/>
              </a:lnSpc>
              <a:buFont typeface="Arial"/>
              <a:buChar char="•"/>
            </a:pPr>
            <a:r>
              <a:rPr lang="en-US" sz="26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Increases awareness &amp; responsibility towards environment</a:t>
            </a:r>
          </a:p>
          <a:p>
            <a:pPr algn="l">
              <a:lnSpc>
                <a:spcPts val="574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02921" y="6544046"/>
            <a:ext cx="9358439" cy="76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577" b="true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Social: Promotes teamwork, community participation</a:t>
            </a:r>
          </a:p>
          <a:p>
            <a:pPr algn="l">
              <a:lnSpc>
                <a:spcPts val="274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02921" y="7278401"/>
            <a:ext cx="9518400" cy="126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577" b="true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Economic: Cost-effective education, prepares future green workforce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5273444"/>
            <a:ext cx="8941079" cy="120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2"/>
              </a:lnSpc>
            </a:pPr>
            <a:r>
              <a:rPr lang="en-US" b="true" sz="50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OF THE SOLUTION</a:t>
            </a:r>
          </a:p>
          <a:p>
            <a:pPr algn="ctr">
              <a:lnSpc>
                <a:spcPts val="3402"/>
              </a:lnSpc>
            </a:pPr>
          </a:p>
          <a:p>
            <a:pPr algn="ctr">
              <a:lnSpc>
                <a:spcPts val="9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02921" y="8336526"/>
            <a:ext cx="9518400" cy="90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77" b="true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Environmental: Reduces waste, encourages conservation, sustainable practices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D8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26238" y="-465854"/>
            <a:ext cx="9649066" cy="964906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3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9802" y="7091594"/>
            <a:ext cx="7991766" cy="2902024"/>
            <a:chOff x="0" y="0"/>
            <a:chExt cx="1892976" cy="687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2976" cy="687390"/>
            </a:xfrm>
            <a:custGeom>
              <a:avLst/>
              <a:gdLst/>
              <a:ahLst/>
              <a:cxnLst/>
              <a:rect r="r" b="b" t="t" l="l"/>
              <a:pathLst>
                <a:path h="687390" w="1892976">
                  <a:moveTo>
                    <a:pt x="0" y="0"/>
                  </a:moveTo>
                  <a:lnTo>
                    <a:pt x="1892976" y="0"/>
                  </a:lnTo>
                  <a:lnTo>
                    <a:pt x="1892976" y="687390"/>
                  </a:lnTo>
                  <a:lnTo>
                    <a:pt x="0" y="6873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92976" cy="72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16850" y="9244041"/>
            <a:ext cx="4519853" cy="474585"/>
          </a:xfrm>
          <a:custGeom>
            <a:avLst/>
            <a:gdLst/>
            <a:ahLst/>
            <a:cxnLst/>
            <a:rect r="r" b="b" t="t" l="l"/>
            <a:pathLst>
              <a:path h="474585" w="4519853">
                <a:moveTo>
                  <a:pt x="0" y="0"/>
                </a:moveTo>
                <a:lnTo>
                  <a:pt x="4519854" y="0"/>
                </a:lnTo>
                <a:lnTo>
                  <a:pt x="4519854" y="474584"/>
                </a:lnTo>
                <a:lnTo>
                  <a:pt x="0" y="474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393068" y="6504167"/>
            <a:ext cx="4405931" cy="4202156"/>
          </a:xfrm>
          <a:custGeom>
            <a:avLst/>
            <a:gdLst/>
            <a:ahLst/>
            <a:cxnLst/>
            <a:rect r="r" b="b" t="t" l="l"/>
            <a:pathLst>
              <a:path h="4202156" w="4405931">
                <a:moveTo>
                  <a:pt x="4405931" y="4202157"/>
                </a:moveTo>
                <a:lnTo>
                  <a:pt x="0" y="4202157"/>
                </a:lnTo>
                <a:lnTo>
                  <a:pt x="0" y="0"/>
                </a:lnTo>
                <a:lnTo>
                  <a:pt x="4405931" y="0"/>
                </a:lnTo>
                <a:lnTo>
                  <a:pt x="4405931" y="4202157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348185" y="4173553"/>
            <a:ext cx="8007636" cy="2706709"/>
            <a:chOff x="0" y="0"/>
            <a:chExt cx="1896735" cy="641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96735" cy="641127"/>
            </a:xfrm>
            <a:custGeom>
              <a:avLst/>
              <a:gdLst/>
              <a:ahLst/>
              <a:cxnLst/>
              <a:rect r="r" b="b" t="t" l="l"/>
              <a:pathLst>
                <a:path h="641127" w="1896735">
                  <a:moveTo>
                    <a:pt x="0" y="0"/>
                  </a:moveTo>
                  <a:lnTo>
                    <a:pt x="1896735" y="0"/>
                  </a:lnTo>
                  <a:lnTo>
                    <a:pt x="1896735" y="641127"/>
                  </a:lnTo>
                  <a:lnTo>
                    <a:pt x="0" y="6411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96735" cy="679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855685" y="9244041"/>
            <a:ext cx="4519853" cy="474585"/>
          </a:xfrm>
          <a:custGeom>
            <a:avLst/>
            <a:gdLst/>
            <a:ahLst/>
            <a:cxnLst/>
            <a:rect r="r" b="b" t="t" l="l"/>
            <a:pathLst>
              <a:path h="474585" w="4519853">
                <a:moveTo>
                  <a:pt x="0" y="0"/>
                </a:moveTo>
                <a:lnTo>
                  <a:pt x="4519853" y="0"/>
                </a:lnTo>
                <a:lnTo>
                  <a:pt x="4519853" y="474584"/>
                </a:lnTo>
                <a:lnTo>
                  <a:pt x="0" y="474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3688054" y="-372765"/>
            <a:ext cx="4960885" cy="4731444"/>
          </a:xfrm>
          <a:custGeom>
            <a:avLst/>
            <a:gdLst/>
            <a:ahLst/>
            <a:cxnLst/>
            <a:rect r="r" b="b" t="t" l="l"/>
            <a:pathLst>
              <a:path h="4731444" w="4960885">
                <a:moveTo>
                  <a:pt x="4960885" y="0"/>
                </a:moveTo>
                <a:lnTo>
                  <a:pt x="0" y="0"/>
                </a:lnTo>
                <a:lnTo>
                  <a:pt x="0" y="4731445"/>
                </a:lnTo>
                <a:lnTo>
                  <a:pt x="4960885" y="4731445"/>
                </a:lnTo>
                <a:lnTo>
                  <a:pt x="4960885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4549" y="1781848"/>
            <a:ext cx="5806827" cy="5806827"/>
          </a:xfrm>
          <a:custGeom>
            <a:avLst/>
            <a:gdLst/>
            <a:ahLst/>
            <a:cxnLst/>
            <a:rect r="r" b="b" t="t" l="l"/>
            <a:pathLst>
              <a:path h="5806827" w="5806827">
                <a:moveTo>
                  <a:pt x="0" y="0"/>
                </a:moveTo>
                <a:lnTo>
                  <a:pt x="5806827" y="0"/>
                </a:lnTo>
                <a:lnTo>
                  <a:pt x="5806827" y="5806827"/>
                </a:lnTo>
                <a:lnTo>
                  <a:pt x="0" y="5806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98526" y="7531525"/>
            <a:ext cx="6517086" cy="270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43" indent="-314122" lvl="1">
              <a:lnSpc>
                <a:spcPts val="4073"/>
              </a:lnSpc>
              <a:buFont typeface="Arial"/>
              <a:buChar char="•"/>
            </a:pPr>
            <a:r>
              <a:rPr lang="en-US" b="true" sz="290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Freemium model</a:t>
            </a:r>
          </a:p>
          <a:p>
            <a:pPr algn="l" marL="628243" indent="-314122" lvl="1">
              <a:lnSpc>
                <a:spcPts val="4073"/>
              </a:lnSpc>
              <a:buFont typeface="Arial"/>
              <a:buChar char="•"/>
            </a:pPr>
            <a:r>
              <a:rPr lang="en-US" b="true" sz="290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Institutions pay</a:t>
            </a:r>
          </a:p>
          <a:p>
            <a:pPr algn="l" marL="628243" indent="-314122" lvl="1">
              <a:lnSpc>
                <a:spcPts val="4073"/>
              </a:lnSpc>
              <a:buFont typeface="Arial"/>
              <a:buChar char="•"/>
            </a:pPr>
            <a:r>
              <a:rPr lang="en-US" b="true" sz="290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CSR/NGO funding</a:t>
            </a:r>
          </a:p>
          <a:p>
            <a:pPr algn="l" marL="628243" indent="-314122" lvl="1">
              <a:lnSpc>
                <a:spcPts val="4073"/>
              </a:lnSpc>
              <a:buFont typeface="Arial"/>
              <a:buChar char="•"/>
            </a:pPr>
            <a:r>
              <a:rPr lang="en-US" b="true" sz="290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Govt grants &amp; Sponsorships</a:t>
            </a:r>
          </a:p>
          <a:p>
            <a:pPr algn="l">
              <a:lnSpc>
                <a:spcPts val="407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859802" y="6832637"/>
            <a:ext cx="9295613" cy="47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7"/>
              </a:lnSpc>
            </a:pPr>
            <a:r>
              <a:rPr lang="en-US" b="true" sz="283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48185" y="4827417"/>
            <a:ext cx="7405873" cy="212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068" indent="-309534" lvl="1">
              <a:lnSpc>
                <a:spcPts val="4014"/>
              </a:lnSpc>
              <a:buFont typeface="Arial"/>
              <a:buChar char="•"/>
            </a:pPr>
            <a:r>
              <a:rPr lang="en-US" sz="286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b="true" sz="286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ligned with NEP 2020 &amp; SDGs</a:t>
            </a:r>
          </a:p>
          <a:p>
            <a:pPr algn="l" marL="619068" indent="-309534" lvl="1">
              <a:lnSpc>
                <a:spcPts val="4014"/>
              </a:lnSpc>
              <a:buFont typeface="Arial"/>
              <a:buChar char="•"/>
            </a:pPr>
            <a:r>
              <a:rPr lang="en-US" b="true" sz="286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Win–win for schools, corporates &amp; society</a:t>
            </a:r>
          </a:p>
          <a:p>
            <a:pPr algn="l">
              <a:lnSpc>
                <a:spcPts val="401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493149" y="4241950"/>
            <a:ext cx="8389808" cy="13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7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Feasibility:</a:t>
            </a:r>
          </a:p>
          <a:p>
            <a:pPr algn="l" marL="586218" indent="-293109" lvl="1">
              <a:lnSpc>
                <a:spcPts val="3421"/>
              </a:lnSpc>
              <a:buFont typeface="Arial"/>
              <a:buChar char="•"/>
            </a:pPr>
          </a:p>
          <a:p>
            <a:pPr algn="l">
              <a:lnSpc>
                <a:spcPts val="342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183898" y="237699"/>
            <a:ext cx="12937568" cy="10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24"/>
              </a:lnSpc>
            </a:pPr>
            <a:r>
              <a:rPr lang="en-US" b="true" sz="6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FEASIBILTY AND VIABILITY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95996" y="1405051"/>
            <a:ext cx="8425470" cy="303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3962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(Problem)</a:t>
            </a:r>
          </a:p>
          <a:p>
            <a:pPr algn="l" marL="855553" indent="-427777" lvl="1">
              <a:lnSpc>
                <a:spcPts val="4794"/>
              </a:lnSpc>
              <a:buFont typeface="Arial"/>
              <a:buChar char="•"/>
            </a:pPr>
            <a:r>
              <a:rPr lang="en-US" b="true" sz="39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Students can’t pay         </a:t>
            </a:r>
          </a:p>
          <a:p>
            <a:pPr algn="l" marL="855553" indent="-427777" lvl="1">
              <a:lnSpc>
                <a:spcPts val="4794"/>
              </a:lnSpc>
              <a:buFont typeface="Arial"/>
              <a:buChar char="•"/>
            </a:pPr>
            <a:r>
              <a:rPr lang="en-US" b="true" sz="39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Ads disrupt learning       </a:t>
            </a:r>
          </a:p>
          <a:p>
            <a:pPr algn="l">
              <a:lnSpc>
                <a:spcPts val="4794"/>
              </a:lnSpc>
            </a:pPr>
            <a:r>
              <a:rPr lang="en-US" sz="39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Sustainability of revenue    </a:t>
            </a:r>
          </a:p>
          <a:p>
            <a:pPr algn="l">
              <a:lnSpc>
                <a:spcPts val="4794"/>
              </a:lnSpc>
            </a:pPr>
            <a:r>
              <a:rPr lang="en-US" sz="39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5377790" y="4840379"/>
            <a:ext cx="5773742" cy="606243"/>
          </a:xfrm>
          <a:custGeom>
            <a:avLst/>
            <a:gdLst/>
            <a:ahLst/>
            <a:cxnLst/>
            <a:rect r="r" b="b" t="t" l="l"/>
            <a:pathLst>
              <a:path h="606243" w="5773742">
                <a:moveTo>
                  <a:pt x="0" y="0"/>
                </a:moveTo>
                <a:lnTo>
                  <a:pt x="5773742" y="0"/>
                </a:lnTo>
                <a:lnTo>
                  <a:pt x="5773742" y="606242"/>
                </a:lnTo>
                <a:lnTo>
                  <a:pt x="0" y="606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00975" y="-302653"/>
            <a:ext cx="11020628" cy="10892307"/>
            <a:chOff x="0" y="0"/>
            <a:chExt cx="2902552" cy="2868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02552" cy="2868756"/>
            </a:xfrm>
            <a:custGeom>
              <a:avLst/>
              <a:gdLst/>
              <a:ahLst/>
              <a:cxnLst/>
              <a:rect r="r" b="b" t="t" l="l"/>
              <a:pathLst>
                <a:path h="2868756" w="2902552">
                  <a:moveTo>
                    <a:pt x="0" y="0"/>
                  </a:moveTo>
                  <a:lnTo>
                    <a:pt x="2902552" y="0"/>
                  </a:lnTo>
                  <a:lnTo>
                    <a:pt x="2902552" y="2868756"/>
                  </a:lnTo>
                  <a:lnTo>
                    <a:pt x="0" y="28687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02552" cy="2906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3639033" y="-825967"/>
            <a:ext cx="5356960" cy="5109200"/>
          </a:xfrm>
          <a:custGeom>
            <a:avLst/>
            <a:gdLst/>
            <a:ahLst/>
            <a:cxnLst/>
            <a:rect r="r" b="b" t="t" l="l"/>
            <a:pathLst>
              <a:path h="5109200" w="5356960">
                <a:moveTo>
                  <a:pt x="5356960" y="0"/>
                </a:moveTo>
                <a:lnTo>
                  <a:pt x="0" y="0"/>
                </a:lnTo>
                <a:lnTo>
                  <a:pt x="0" y="5109200"/>
                </a:lnTo>
                <a:lnTo>
                  <a:pt x="5356960" y="5109200"/>
                </a:lnTo>
                <a:lnTo>
                  <a:pt x="535696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139240" y="5143500"/>
            <a:ext cx="5856753" cy="5585878"/>
          </a:xfrm>
          <a:custGeom>
            <a:avLst/>
            <a:gdLst/>
            <a:ahLst/>
            <a:cxnLst/>
            <a:rect r="r" b="b" t="t" l="l"/>
            <a:pathLst>
              <a:path h="5585878" w="5856753">
                <a:moveTo>
                  <a:pt x="5856753" y="5585878"/>
                </a:moveTo>
                <a:lnTo>
                  <a:pt x="0" y="5585878"/>
                </a:lnTo>
                <a:lnTo>
                  <a:pt x="0" y="0"/>
                </a:lnTo>
                <a:lnTo>
                  <a:pt x="5856753" y="0"/>
                </a:lnTo>
                <a:lnTo>
                  <a:pt x="5856753" y="5585878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4889" y="789322"/>
            <a:ext cx="7646650" cy="8167601"/>
          </a:xfrm>
          <a:custGeom>
            <a:avLst/>
            <a:gdLst/>
            <a:ahLst/>
            <a:cxnLst/>
            <a:rect r="r" b="b" t="t" l="l"/>
            <a:pathLst>
              <a:path h="8167601" w="7646650">
                <a:moveTo>
                  <a:pt x="0" y="0"/>
                </a:moveTo>
                <a:lnTo>
                  <a:pt x="7646650" y="0"/>
                </a:lnTo>
                <a:lnTo>
                  <a:pt x="7646650" y="8167601"/>
                </a:lnTo>
                <a:lnTo>
                  <a:pt x="0" y="8167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06" t="0" r="-340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54959" y="1090699"/>
            <a:ext cx="7604341" cy="198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22"/>
              </a:lnSpc>
            </a:pPr>
            <a:r>
              <a:rPr lang="en-US" b="true" sz="6002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KEY TECHNOLOGIES</a:t>
            </a:r>
          </a:p>
          <a:p>
            <a:pPr algn="r">
              <a:lnSpc>
                <a:spcPts val="840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82519" y="2212698"/>
            <a:ext cx="8349221" cy="40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2989" indent="-236495" lvl="1">
              <a:lnSpc>
                <a:spcPts val="3067"/>
              </a:lnSpc>
              <a:buFont typeface="Arial"/>
              <a:buChar char="•"/>
            </a:pPr>
            <a:r>
              <a:rPr lang="en-US" b="true" sz="2190">
                <a:solidFill>
                  <a:srgbClr val="99B62A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Frontend: HTML/CSS/JS</a:t>
            </a:r>
          </a:p>
          <a:p>
            <a:pPr algn="just">
              <a:lnSpc>
                <a:spcPts val="3067"/>
              </a:lnSpc>
            </a:pPr>
          </a:p>
          <a:p>
            <a:pPr algn="just" marL="472989" indent="-236495" lvl="1">
              <a:lnSpc>
                <a:spcPts val="3067"/>
              </a:lnSpc>
              <a:buFont typeface="Arial"/>
              <a:buChar char="•"/>
            </a:pPr>
            <a:r>
              <a:rPr lang="en-US" b="true" sz="2190">
                <a:solidFill>
                  <a:srgbClr val="99B62A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Backend/Logic: Python + Flask for APIs and Authentication.</a:t>
            </a:r>
          </a:p>
          <a:p>
            <a:pPr algn="just">
              <a:lnSpc>
                <a:spcPts val="3067"/>
              </a:lnSpc>
            </a:pPr>
          </a:p>
          <a:p>
            <a:pPr algn="just" marL="472989" indent="-236495" lvl="1">
              <a:lnSpc>
                <a:spcPts val="3067"/>
              </a:lnSpc>
              <a:buFont typeface="Arial"/>
              <a:buChar char="•"/>
            </a:pPr>
            <a:r>
              <a:rPr lang="en-US" b="true" sz="2190">
                <a:solidFill>
                  <a:srgbClr val="99B62A"/>
                </a:solidFill>
                <a:latin typeface="Poppins Bold"/>
                <a:ea typeface="Poppins Bold"/>
                <a:cs typeface="Poppins Bold"/>
                <a:sym typeface="Poppins Bold"/>
              </a:rPr>
              <a:t>​Database: MySQL (Structured Data: Users, Points, Challenges).</a:t>
            </a:r>
          </a:p>
          <a:p>
            <a:pPr algn="just">
              <a:lnSpc>
                <a:spcPts val="2647"/>
              </a:lnSpc>
            </a:pPr>
          </a:p>
          <a:p>
            <a:pPr algn="just">
              <a:lnSpc>
                <a:spcPts val="4187"/>
              </a:lnSpc>
            </a:pPr>
            <a:r>
              <a:rPr lang="en-US" sz="299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​</a:t>
            </a:r>
          </a:p>
          <a:p>
            <a:pPr algn="just">
              <a:lnSpc>
                <a:spcPts val="418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52327" y="5452679"/>
            <a:ext cx="9717924" cy="141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b="true" sz="3348">
                <a:solidFill>
                  <a:srgbClr val="5D8A2D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PROCESS (3-TIER MODEL)</a:t>
            </a:r>
          </a:p>
          <a:p>
            <a:pPr algn="just">
              <a:lnSpc>
                <a:spcPts val="7085"/>
              </a:lnSpc>
            </a:pPr>
          </a:p>
          <a:p>
            <a:pPr algn="r">
              <a:lnSpc>
                <a:spcPts val="1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6109244"/>
            <a:ext cx="8349221" cy="266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2989" indent="-236495" lvl="1">
              <a:lnSpc>
                <a:spcPts val="3067"/>
              </a:lnSpc>
              <a:buFont typeface="Arial"/>
              <a:buChar char="•"/>
            </a:pPr>
            <a:r>
              <a:rPr lang="en-US" b="true" sz="2190">
                <a:solidFill>
                  <a:srgbClr val="99B62A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Frontend: Handles User Interactions and Data Display.</a:t>
            </a:r>
          </a:p>
          <a:p>
            <a:pPr algn="just">
              <a:lnSpc>
                <a:spcPts val="3067"/>
              </a:lnSpc>
            </a:pPr>
          </a:p>
          <a:p>
            <a:pPr algn="just" marL="472989" indent="-236495" lvl="1">
              <a:lnSpc>
                <a:spcPts val="3067"/>
              </a:lnSpc>
              <a:buFont typeface="Arial"/>
              <a:buChar char="•"/>
            </a:pPr>
            <a:r>
              <a:rPr lang="en-US" b="true" sz="2190">
                <a:solidFill>
                  <a:srgbClr val="99B62A"/>
                </a:solidFill>
                <a:latin typeface="Poppins Bold"/>
                <a:ea typeface="Poppins Bold"/>
                <a:cs typeface="Poppins Bold"/>
                <a:sym typeface="Poppins Bold"/>
              </a:rPr>
              <a:t>​Backend: Manages APIs &amp; Business Logic (Authentication).</a:t>
            </a:r>
          </a:p>
          <a:p>
            <a:pPr algn="just">
              <a:lnSpc>
                <a:spcPts val="3067"/>
              </a:lnSpc>
            </a:pPr>
          </a:p>
          <a:p>
            <a:pPr algn="just" marL="472989" indent="-236495" lvl="1">
              <a:lnSpc>
                <a:spcPts val="3067"/>
              </a:lnSpc>
              <a:buFont typeface="Arial"/>
              <a:buChar char="•"/>
            </a:pPr>
            <a:r>
              <a:rPr lang="en-US" b="true" sz="2190">
                <a:solidFill>
                  <a:srgbClr val="99B62A"/>
                </a:solidFill>
                <a:latin typeface="Poppins Bold"/>
                <a:ea typeface="Poppins Bold"/>
                <a:cs typeface="Poppins Bold"/>
                <a:sym typeface="Poppins Bold"/>
              </a:rPr>
              <a:t>​Database: Stores/Retrieves data via Read/Write requests.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6031" y="0"/>
            <a:ext cx="4863316" cy="4638387"/>
          </a:xfrm>
          <a:custGeom>
            <a:avLst/>
            <a:gdLst/>
            <a:ahLst/>
            <a:cxnLst/>
            <a:rect r="r" b="b" t="t" l="l"/>
            <a:pathLst>
              <a:path h="4638387" w="4863316">
                <a:moveTo>
                  <a:pt x="0" y="0"/>
                </a:moveTo>
                <a:lnTo>
                  <a:pt x="4863316" y="0"/>
                </a:lnTo>
                <a:lnTo>
                  <a:pt x="4863316" y="4638387"/>
                </a:lnTo>
                <a:lnTo>
                  <a:pt x="0" y="4638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77947" y="6499770"/>
            <a:ext cx="4863316" cy="4638387"/>
          </a:xfrm>
          <a:custGeom>
            <a:avLst/>
            <a:gdLst/>
            <a:ahLst/>
            <a:cxnLst/>
            <a:rect r="r" b="b" t="t" l="l"/>
            <a:pathLst>
              <a:path h="4638387" w="4863316">
                <a:moveTo>
                  <a:pt x="0" y="4638388"/>
                </a:moveTo>
                <a:lnTo>
                  <a:pt x="4863316" y="4638388"/>
                </a:lnTo>
                <a:lnTo>
                  <a:pt x="4863316" y="0"/>
                </a:lnTo>
                <a:lnTo>
                  <a:pt x="0" y="0"/>
                </a:lnTo>
                <a:lnTo>
                  <a:pt x="0" y="4638388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045022">
            <a:off x="5167050" y="7873968"/>
            <a:ext cx="4205520" cy="441580"/>
          </a:xfrm>
          <a:custGeom>
            <a:avLst/>
            <a:gdLst/>
            <a:ahLst/>
            <a:cxnLst/>
            <a:rect r="r" b="b" t="t" l="l"/>
            <a:pathLst>
              <a:path h="441580" w="4205520">
                <a:moveTo>
                  <a:pt x="0" y="0"/>
                </a:moveTo>
                <a:lnTo>
                  <a:pt x="4205520" y="0"/>
                </a:lnTo>
                <a:lnTo>
                  <a:pt x="4205520" y="441579"/>
                </a:lnTo>
                <a:lnTo>
                  <a:pt x="0" y="441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62826" y="0"/>
            <a:ext cx="19150826" cy="10287000"/>
          </a:xfrm>
          <a:custGeom>
            <a:avLst/>
            <a:gdLst/>
            <a:ahLst/>
            <a:cxnLst/>
            <a:rect r="r" b="b" t="t" l="l"/>
            <a:pathLst>
              <a:path h="10287000" w="19150826">
                <a:moveTo>
                  <a:pt x="0" y="0"/>
                </a:moveTo>
                <a:lnTo>
                  <a:pt x="19150826" y="0"/>
                </a:lnTo>
                <a:lnTo>
                  <a:pt x="19150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58" r="0" b="-23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53648"/>
            <a:ext cx="16962732" cy="703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1"/>
              </a:lnSpc>
            </a:pPr>
            <a:r>
              <a:rPr lang="en-US" sz="3600" b="true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References – Gamified Environmental Education Platform</a:t>
            </a:r>
          </a:p>
          <a:p>
            <a:pPr algn="ctr">
              <a:lnSpc>
                <a:spcPts val="5041"/>
              </a:lnSpc>
            </a:pPr>
          </a:p>
          <a:p>
            <a:pPr algn="ctr">
              <a:lnSpc>
                <a:spcPts val="5041"/>
              </a:lnSpc>
            </a:pPr>
            <a:r>
              <a:rPr lang="en-US" sz="36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Gamification for Environmental Engagement – thedecisionlab.com</a:t>
            </a:r>
          </a:p>
          <a:p>
            <a:pPr algn="ctr">
              <a:lnSpc>
                <a:spcPts val="5041"/>
              </a:lnSpc>
            </a:pPr>
          </a:p>
          <a:p>
            <a:pPr algn="ctr">
              <a:lnSpc>
                <a:spcPts val="5041"/>
              </a:lnSpc>
            </a:pPr>
            <a:r>
              <a:rPr lang="en-US" sz="36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Gamified Learning Platform Using NASA PACE Data – irjmets.com</a:t>
            </a:r>
          </a:p>
          <a:p>
            <a:pPr algn="ctr">
              <a:lnSpc>
                <a:spcPts val="5041"/>
              </a:lnSpc>
            </a:pPr>
          </a:p>
          <a:p>
            <a:pPr algn="ctr">
              <a:lnSpc>
                <a:spcPts val="5041"/>
              </a:lnSpc>
            </a:pPr>
            <a:r>
              <a:rPr lang="en-US" sz="36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Effects of a Gamified Learning Environment – pmc.ncbi.nlm.nih.gov</a:t>
            </a:r>
          </a:p>
          <a:p>
            <a:pPr algn="ctr">
              <a:lnSpc>
                <a:spcPts val="5041"/>
              </a:lnSpc>
            </a:pPr>
          </a:p>
          <a:p>
            <a:pPr algn="ctr">
              <a:lnSpc>
                <a:spcPts val="5041"/>
              </a:lnSpc>
            </a:pPr>
            <a:r>
              <a:rPr lang="en-US" sz="36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Clean Games – en.wikipedia.org</a:t>
            </a:r>
          </a:p>
          <a:p>
            <a:pPr algn="ctr">
              <a:lnSpc>
                <a:spcPts val="5041"/>
              </a:lnSpc>
            </a:pPr>
          </a:p>
          <a:p>
            <a:pPr algn="ctr">
              <a:lnSpc>
                <a:spcPts val="5041"/>
              </a:lnSpc>
              <a:spcBef>
                <a:spcPct val="0"/>
              </a:spcBef>
            </a:pPr>
            <a:r>
              <a:rPr lang="en-US" b="true" sz="3600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Gamification for Sustainability Engagement – ecologi.com </a:t>
            </a:r>
            <a:r>
              <a:rPr lang="en-US" b="true" sz="3600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DAG0vQ1xXBo</dc:identifier>
  <dcterms:modified xsi:type="dcterms:W3CDTF">2011-08-01T06:04:30Z</dcterms:modified>
  <cp:revision>1</cp:revision>
  <dc:title>Business Model</dc:title>
</cp:coreProperties>
</file>